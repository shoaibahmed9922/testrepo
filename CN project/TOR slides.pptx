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11/17/2017</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11/17/2017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11/17/2017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11/17/2017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11/17/2017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11/17/2017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11/17/2017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11/17/2017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11/17/2017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11/17/2017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11/17/2017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11/17/2017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11/17/2017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11/17/2017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11/17/2017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11/17/2017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11/17/2017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11/17/2017</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TOR: The Onion Router</a:t>
            </a:r>
            <a:endParaRPr lang="en-US" dirty="0"/>
          </a:p>
        </p:txBody>
      </p:sp>
      <p:sp>
        <p:nvSpPr>
          <p:cNvPr id="3" name="Subtitle 2"/>
          <p:cNvSpPr>
            <a:spLocks noGrp="1"/>
          </p:cNvSpPr>
          <p:nvPr>
            <p:ph type="subTitle" idx="1"/>
          </p:nvPr>
        </p:nvSpPr>
        <p:spPr/>
        <p:txBody>
          <a:bodyPr/>
          <a:lstStyle/>
          <a:p>
            <a:r>
              <a:rPr lang="en-US" dirty="0" smtClean="0"/>
              <a:t>BY:  Muhammad Amir 13L-4079</a:t>
            </a:r>
          </a:p>
          <a:p>
            <a:r>
              <a:rPr lang="en-US" dirty="0"/>
              <a:t> </a:t>
            </a:r>
            <a:r>
              <a:rPr lang="en-US" dirty="0" smtClean="0"/>
              <a:t>     SAAD ALI                14L-5867</a:t>
            </a:r>
            <a:endParaRPr lang="en-US" dirty="0"/>
          </a:p>
        </p:txBody>
      </p:sp>
    </p:spTree>
    <p:extLst>
      <p:ext uri="{BB962C8B-B14F-4D97-AF65-F5344CB8AC3E}">
        <p14:creationId xmlns:p14="http://schemas.microsoft.com/office/powerpoint/2010/main" val="102882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60608"/>
            <a:ext cx="9905998" cy="1416677"/>
          </a:xfrm>
        </p:spPr>
        <p:txBody>
          <a:bodyPr/>
          <a:lstStyle/>
          <a:p>
            <a:r>
              <a:rPr lang="en-US" b="1" dirty="0"/>
              <a:t>Critical Evaluation of TOR Network and Browser</a:t>
            </a:r>
            <a:endParaRPr lang="en-US" dirty="0"/>
          </a:p>
        </p:txBody>
      </p:sp>
      <p:sp>
        <p:nvSpPr>
          <p:cNvPr id="3" name="Content Placeholder 2"/>
          <p:cNvSpPr>
            <a:spLocks noGrp="1"/>
          </p:cNvSpPr>
          <p:nvPr>
            <p:ph idx="1"/>
          </p:nvPr>
        </p:nvSpPr>
        <p:spPr>
          <a:xfrm>
            <a:off x="1141412" y="1867437"/>
            <a:ext cx="9905999" cy="4456089"/>
          </a:xfrm>
        </p:spPr>
        <p:txBody>
          <a:bodyPr/>
          <a:lstStyle/>
          <a:p>
            <a:r>
              <a:rPr lang="en-US" dirty="0"/>
              <a:t>TOR consists of three different types of nodes which are </a:t>
            </a:r>
            <a:r>
              <a:rPr lang="en-US" b="1" dirty="0"/>
              <a:t>Directory servers</a:t>
            </a:r>
            <a:r>
              <a:rPr lang="en-US" dirty="0"/>
              <a:t>, </a:t>
            </a:r>
            <a:r>
              <a:rPr lang="en-US" b="1" dirty="0"/>
              <a:t>Exit points</a:t>
            </a:r>
            <a:r>
              <a:rPr lang="en-US" dirty="0"/>
              <a:t> and </a:t>
            </a:r>
            <a:r>
              <a:rPr lang="en-US" b="1" dirty="0"/>
              <a:t>Internal </a:t>
            </a:r>
            <a:r>
              <a:rPr lang="en-US" b="1" dirty="0" smtClean="0"/>
              <a:t>relays.</a:t>
            </a:r>
          </a:p>
          <a:p>
            <a:r>
              <a:rPr lang="en-US" dirty="0" smtClean="0"/>
              <a:t>The client first acquires </a:t>
            </a:r>
            <a:r>
              <a:rPr lang="en-US" dirty="0"/>
              <a:t>the current list of relays from the trusted directory servers. </a:t>
            </a:r>
            <a:endParaRPr lang="en-US" dirty="0" smtClean="0"/>
          </a:p>
          <a:p>
            <a:r>
              <a:rPr lang="en-US" dirty="0" smtClean="0"/>
              <a:t>After </a:t>
            </a:r>
            <a:r>
              <a:rPr lang="en-US" dirty="0"/>
              <a:t>retrieving that list, the user determines the optimal route for traffic across </a:t>
            </a:r>
            <a:r>
              <a:rPr lang="en-US" dirty="0" smtClean="0"/>
              <a:t>TOR </a:t>
            </a:r>
            <a:r>
              <a:rPr lang="en-US" dirty="0"/>
              <a:t>network and then finally it terminates at exit </a:t>
            </a:r>
            <a:r>
              <a:rPr lang="en-US" dirty="0" smtClean="0"/>
              <a:t>node.</a:t>
            </a:r>
          </a:p>
          <a:p>
            <a:r>
              <a:rPr lang="en-US" dirty="0"/>
              <a:t>. In TOR network all of the traffic will follow the same route which is different from the operation of I2P </a:t>
            </a:r>
            <a:r>
              <a:rPr lang="en-US" dirty="0" smtClean="0"/>
              <a:t>routes.</a:t>
            </a:r>
          </a:p>
        </p:txBody>
      </p:sp>
    </p:spTree>
    <p:extLst>
      <p:ext uri="{BB962C8B-B14F-4D97-AF65-F5344CB8AC3E}">
        <p14:creationId xmlns:p14="http://schemas.microsoft.com/office/powerpoint/2010/main" val="4257800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TOR’S Working principle</a:t>
            </a:r>
            <a:endParaRPr lang="en-US" dirty="0"/>
          </a:p>
        </p:txBody>
      </p:sp>
      <p:sp>
        <p:nvSpPr>
          <p:cNvPr id="3" name="Content Placeholder 2"/>
          <p:cNvSpPr>
            <a:spLocks noGrp="1"/>
          </p:cNvSpPr>
          <p:nvPr>
            <p:ph idx="1"/>
          </p:nvPr>
        </p:nvSpPr>
        <p:spPr/>
        <p:txBody>
          <a:bodyPr/>
          <a:lstStyle/>
          <a:p>
            <a:r>
              <a:rPr lang="en-US" dirty="0" smtClean="0"/>
              <a:t>Tor’s working principle consists of different steps as follow:</a:t>
            </a:r>
          </a:p>
          <a:p>
            <a:pPr lvl="0"/>
            <a:r>
              <a:rPr lang="en-US" dirty="0"/>
              <a:t>Define route</a:t>
            </a:r>
          </a:p>
          <a:p>
            <a:pPr lvl="0"/>
            <a:r>
              <a:rPr lang="en-US" dirty="0"/>
              <a:t>Construct the anonymous connection</a:t>
            </a:r>
          </a:p>
          <a:p>
            <a:pPr lvl="0"/>
            <a:r>
              <a:rPr lang="en-US" dirty="0"/>
              <a:t>Move and encrypt the data through the connection</a:t>
            </a:r>
          </a:p>
          <a:p>
            <a:pPr lvl="0"/>
            <a:r>
              <a:rPr lang="en-US" dirty="0"/>
              <a:t>Destroy the anonymous </a:t>
            </a:r>
            <a:r>
              <a:rPr lang="en-US" dirty="0" smtClean="0"/>
              <a:t>connection</a:t>
            </a:r>
            <a:endParaRPr lang="en-US" dirty="0"/>
          </a:p>
        </p:txBody>
      </p:sp>
    </p:spTree>
    <p:extLst>
      <p:ext uri="{BB962C8B-B14F-4D97-AF65-F5344CB8AC3E}">
        <p14:creationId xmlns:p14="http://schemas.microsoft.com/office/powerpoint/2010/main" val="1350139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236040"/>
          </a:xfrm>
        </p:spPr>
        <p:txBody>
          <a:bodyPr/>
          <a:lstStyle/>
          <a:p>
            <a:r>
              <a:rPr lang="en-US" dirty="0" smtClean="0"/>
              <a:t>Configuration of two participatory nodes</a:t>
            </a:r>
            <a:endParaRPr lang="en-US" dirty="0"/>
          </a:p>
        </p:txBody>
      </p:sp>
      <p:sp>
        <p:nvSpPr>
          <p:cNvPr id="3" name="Content Placeholder 2"/>
          <p:cNvSpPr>
            <a:spLocks noGrp="1"/>
          </p:cNvSpPr>
          <p:nvPr>
            <p:ph idx="1"/>
          </p:nvPr>
        </p:nvSpPr>
        <p:spPr>
          <a:xfrm>
            <a:off x="1141412" y="1854558"/>
            <a:ext cx="9905999" cy="3936643"/>
          </a:xfrm>
        </p:spPr>
        <p:txBody>
          <a:bodyPr/>
          <a:lstStyle/>
          <a:p>
            <a:r>
              <a:rPr lang="en-US" dirty="0"/>
              <a:t>After defining the route and making the connections, the data now have encrypted layers upon it. These encrypted layers are added before going into the anonymous network. Now the relays/nodes in the network unwrap the layers and pass the data along with other encrypted layers to the other. At the exit node, all the layers get peeled/unwrapped. The data has now no layers on it. It is then passed on to the destination via the regular </a:t>
            </a:r>
            <a:r>
              <a:rPr lang="en-US" dirty="0" smtClean="0"/>
              <a:t>internet.</a:t>
            </a:r>
            <a:endParaRPr lang="en-US" dirty="0"/>
          </a:p>
        </p:txBody>
      </p:sp>
    </p:spTree>
    <p:extLst>
      <p:ext uri="{BB962C8B-B14F-4D97-AF65-F5344CB8AC3E}">
        <p14:creationId xmlns:p14="http://schemas.microsoft.com/office/powerpoint/2010/main" val="208560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60608"/>
            <a:ext cx="9905998" cy="1416677"/>
          </a:xfrm>
        </p:spPr>
        <p:txBody>
          <a:bodyPr/>
          <a:lstStyle/>
          <a:p>
            <a:r>
              <a:rPr lang="en-US" dirty="0" smtClean="0"/>
              <a:t>Identifying the real source/user</a:t>
            </a:r>
            <a:endParaRPr lang="en-US" dirty="0"/>
          </a:p>
        </p:txBody>
      </p:sp>
      <p:sp>
        <p:nvSpPr>
          <p:cNvPr id="3" name="Content Placeholder 2"/>
          <p:cNvSpPr>
            <a:spLocks noGrp="1"/>
          </p:cNvSpPr>
          <p:nvPr>
            <p:ph idx="1"/>
          </p:nvPr>
        </p:nvSpPr>
        <p:spPr>
          <a:xfrm>
            <a:off x="1141412" y="1777285"/>
            <a:ext cx="9905999" cy="4013916"/>
          </a:xfrm>
        </p:spPr>
        <p:txBody>
          <a:bodyPr/>
          <a:lstStyle/>
          <a:p>
            <a:r>
              <a:rPr lang="en-US" dirty="0"/>
              <a:t>Identifying the real source or user is quite a difficult task as no one has ever successfully found a solution to this problem. The investigators, ISI and other intelligence agencies are looking for a way to find the real source or user so that they can rescue them for their </a:t>
            </a:r>
            <a:r>
              <a:rPr lang="en-US" dirty="0" smtClean="0"/>
              <a:t>acts.</a:t>
            </a:r>
          </a:p>
          <a:p>
            <a:r>
              <a:rPr lang="en-US" dirty="0"/>
              <a:t>the exit node removes the last layer of </a:t>
            </a:r>
            <a:r>
              <a:rPr lang="en-US" dirty="0" smtClean="0"/>
              <a:t>encryption </a:t>
            </a:r>
            <a:r>
              <a:rPr lang="en-US" dirty="0"/>
              <a:t>But the exit node IP address may not be useful as we cannot still have idea where the data is really coming </a:t>
            </a:r>
            <a:r>
              <a:rPr lang="en-US" dirty="0" smtClean="0"/>
              <a:t>from.</a:t>
            </a:r>
          </a:p>
          <a:p>
            <a:endParaRPr lang="en-US" dirty="0"/>
          </a:p>
        </p:txBody>
      </p:sp>
    </p:spTree>
    <p:extLst>
      <p:ext uri="{BB962C8B-B14F-4D97-AF65-F5344CB8AC3E}">
        <p14:creationId xmlns:p14="http://schemas.microsoft.com/office/powerpoint/2010/main" val="230919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1854557"/>
            <a:ext cx="9905999" cy="3936643"/>
          </a:xfrm>
        </p:spPr>
        <p:txBody>
          <a:bodyPr/>
          <a:lstStyle/>
          <a:p>
            <a:r>
              <a:rPr lang="en-US" dirty="0"/>
              <a:t>. </a:t>
            </a:r>
            <a:r>
              <a:rPr lang="en-US" b="1" dirty="0"/>
              <a:t> One way could work is having a service that access a resource outside of TOR and make the user access this service often. </a:t>
            </a:r>
            <a:endParaRPr lang="en-US" b="1" dirty="0"/>
          </a:p>
          <a:p>
            <a:r>
              <a:rPr lang="en-US" dirty="0"/>
              <a:t>Another way can be to </a:t>
            </a:r>
            <a:r>
              <a:rPr lang="en-US" b="1" dirty="0"/>
              <a:t>monitor cookies </a:t>
            </a:r>
            <a:r>
              <a:rPr lang="en-US" dirty="0"/>
              <a:t>on the user pc. But the user can be so smart because they can disable cookies while surfing deep </a:t>
            </a:r>
            <a:r>
              <a:rPr lang="en-US" dirty="0" smtClean="0"/>
              <a:t>web.</a:t>
            </a:r>
          </a:p>
          <a:p>
            <a:endParaRPr lang="en-US" dirty="0"/>
          </a:p>
          <a:p>
            <a:r>
              <a:rPr lang="en-US" dirty="0"/>
              <a:t>In short, it is really hard to get to the original </a:t>
            </a:r>
            <a:r>
              <a:rPr lang="en-US" dirty="0" smtClean="0"/>
              <a:t>source.</a:t>
            </a:r>
            <a:endParaRPr lang="en-US" dirty="0"/>
          </a:p>
        </p:txBody>
      </p:sp>
    </p:spTree>
    <p:extLst>
      <p:ext uri="{BB962C8B-B14F-4D97-AF65-F5344CB8AC3E}">
        <p14:creationId xmlns:p14="http://schemas.microsoft.com/office/powerpoint/2010/main" val="1577593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4700"/>
            <a:ext cx="9905998" cy="1545464"/>
          </a:xfrm>
        </p:spPr>
        <p:txBody>
          <a:bodyPr/>
          <a:lstStyle/>
          <a:p>
            <a:r>
              <a:rPr lang="en-US" dirty="0" smtClean="0"/>
              <a:t>conclusion</a:t>
            </a:r>
            <a:endParaRPr lang="en-US" dirty="0"/>
          </a:p>
        </p:txBody>
      </p:sp>
      <p:sp>
        <p:nvSpPr>
          <p:cNvPr id="3" name="Content Placeholder 2"/>
          <p:cNvSpPr>
            <a:spLocks noGrp="1"/>
          </p:cNvSpPr>
          <p:nvPr>
            <p:ph idx="1"/>
          </p:nvPr>
        </p:nvSpPr>
        <p:spPr>
          <a:xfrm>
            <a:off x="1141412" y="1790162"/>
            <a:ext cx="9905999" cy="4468969"/>
          </a:xfrm>
        </p:spPr>
        <p:txBody>
          <a:bodyPr>
            <a:normAutofit/>
          </a:bodyPr>
          <a:lstStyle/>
          <a:p>
            <a:r>
              <a:rPr lang="en-US" dirty="0"/>
              <a:t>To put the above discussion into a nutshell, we can say that TOR network is very useful for intelligence purpose and to keep data confidential but despite of that there are several disadvantages too as it is anonymously being used for cybercrimes. TOR keeps real source protected and we can reach destination without tracing the real IP with the help of relays defined by TOR. Each relay decrypts by the private key and pass the data/onion to the next router/relay. And by this we pass our data to the destination. It is difficult to get the real source IP yet possible</a:t>
            </a:r>
            <a:endParaRPr lang="en-US" dirty="0"/>
          </a:p>
        </p:txBody>
      </p:sp>
    </p:spTree>
    <p:extLst>
      <p:ext uri="{BB962C8B-B14F-4D97-AF65-F5344CB8AC3E}">
        <p14:creationId xmlns:p14="http://schemas.microsoft.com/office/powerpoint/2010/main" val="824695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17</TotalTime>
  <Words>490</Words>
  <Application>Microsoft Office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Tw Cen MT</vt:lpstr>
      <vt:lpstr>Circuit</vt:lpstr>
      <vt:lpstr>TOR: The Onion Router</vt:lpstr>
      <vt:lpstr>Critical Evaluation of TOR Network and Browser</vt:lpstr>
      <vt:lpstr>TOR’S Working principle</vt:lpstr>
      <vt:lpstr>Configuration of two participatory nodes</vt:lpstr>
      <vt:lpstr>Identifying the real source/user</vt:lpstr>
      <vt:lpstr>PowerPoint Presentation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 The Onion Router</dc:title>
  <dc:creator>Mansoor</dc:creator>
  <cp:lastModifiedBy>Mansoor</cp:lastModifiedBy>
  <cp:revision>2</cp:revision>
  <dcterms:created xsi:type="dcterms:W3CDTF">2017-11-16T20:44:26Z</dcterms:created>
  <dcterms:modified xsi:type="dcterms:W3CDTF">2017-11-16T21:02:09Z</dcterms:modified>
</cp:coreProperties>
</file>